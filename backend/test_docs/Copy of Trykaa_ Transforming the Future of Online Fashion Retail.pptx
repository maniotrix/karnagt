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  <p:embeddedFont>
      <p:font typeface="Merriweather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Merriweather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erriweather-italic.fntdata"/><Relationship Id="rId25" Type="http://schemas.openxmlformats.org/officeDocument/2006/relationships/font" Target="fonts/Merriweather-bold.fntdata"/><Relationship Id="rId27" Type="http://schemas.openxmlformats.org/officeDocument/2006/relationships/font" Target="fonts/Merriweath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4c25e3ed6c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4c25e3ed6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4c25e3ed6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4c25e3ed6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4c25e3ed6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4c25e3ed6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4c25e3ed6c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4c25e3ed6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1160167e95_1_50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1160167e95_1_50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12abac762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12abac762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4c25e3ed6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4c25e3ed6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4c25e3ed6c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4c25e3ed6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155fc7425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155fc7425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1160167e95_1_50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1160167e95_1_50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155fc74254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155fc7425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4c25e3ed6c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4c25e3ed6c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4c25e3ed6c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4c25e3ed6c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mailto:prince@trykaa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Trykaa: Transforming the Future of Online Fashion Retail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Revolutionizing the Apparel Industry with Try-At-Home Shopping</a:t>
            </a:r>
            <a:endParaRPr/>
          </a:p>
        </p:txBody>
      </p:sp>
      <p:sp>
        <p:nvSpPr>
          <p:cNvPr id="66" name="Google Shape;66;p13"/>
          <p:cNvSpPr txBox="1"/>
          <p:nvPr/>
        </p:nvSpPr>
        <p:spPr>
          <a:xfrm>
            <a:off x="535050" y="4460550"/>
            <a:ext cx="3795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Prince</a:t>
            </a:r>
            <a:endParaRPr sz="120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Founder at Trykaa Clothing Private Limited</a:t>
            </a:r>
            <a:endParaRPr i="1" sz="120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r>
              <a:rPr lang="en"/>
              <a:t>verview of Trykaa and its unique value proposition</a:t>
            </a:r>
            <a:endParaRPr/>
          </a:p>
        </p:txBody>
      </p:sp>
      <p:sp>
        <p:nvSpPr>
          <p:cNvPr id="72" name="Google Shape;72;p1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Trykaa is an online hyperlocal </a:t>
            </a:r>
            <a:r>
              <a:rPr lang="en"/>
              <a:t>multi brand</a:t>
            </a:r>
            <a:r>
              <a:rPr lang="en"/>
              <a:t>  platform of western and indian wears for fashion enthusiasts.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USP : </a:t>
            </a:r>
            <a:endParaRPr/>
          </a:p>
          <a:p>
            <a:pPr indent="-3111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It’s just like offline mall shopping. </a:t>
            </a:r>
            <a:endParaRPr/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Customers try the clothes without </a:t>
            </a:r>
            <a:r>
              <a:rPr lang="en"/>
              <a:t>paying</a:t>
            </a:r>
            <a:r>
              <a:rPr lang="en"/>
              <a:t> for them upfront.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Trykaa fulfills the fundamental need of why customers shop offline.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Pay only when it fits you and looks great on you.</a:t>
            </a:r>
            <a:endParaRPr/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6250" y="4821100"/>
            <a:ext cx="3445892" cy="239175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endPos="30000" fadeDir="5400012" kx="0" rotWithShape="0" algn="bl" stPos="0" sy="-100000" ky="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/>
              <a:t>hallenges in online fashion retail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For Customers</a:t>
            </a:r>
            <a:r>
              <a:rPr lang="en" sz="1200"/>
              <a:t>: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Customers hesitant to buy mid-range and </a:t>
            </a:r>
            <a:r>
              <a:rPr lang="en" sz="1200"/>
              <a:t>high range value items online.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Shopping time extended to days and inconvenient cycles of placing orders and return requests in search of customer’s perfect look and fit.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For Business</a:t>
            </a:r>
            <a:r>
              <a:rPr lang="en" sz="1200"/>
              <a:t>: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Returns:</a:t>
            </a:r>
            <a:endParaRPr sz="1200"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Decrease in overall revenue due to delayed restocking of returned items.</a:t>
            </a:r>
            <a:endParaRPr sz="1200"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High operational costs incurred for facilitating return requests of the customers.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25" y="500925"/>
            <a:ext cx="8832300" cy="599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- Trykaa's Unique Model</a:t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4572000" y="1550800"/>
            <a:ext cx="4418400" cy="27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Reduces the risk for customers and improves their shopping experience.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Try variety of styles and designs in bulk at home without payment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More confidence while shopping for multiple/expensive clothes online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Be done with your shopping and returns within hours.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 txBox="1"/>
          <p:nvPr/>
        </p:nvSpPr>
        <p:spPr>
          <a:xfrm>
            <a:off x="311725" y="1450150"/>
            <a:ext cx="3706500" cy="2948400"/>
          </a:xfrm>
          <a:prstGeom prst="rect">
            <a:avLst/>
          </a:prstGeom>
          <a:solidFill>
            <a:srgbClr val="31394D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Trykaa's business model allows users to try clothes at home without upfront payment.</a:t>
            </a:r>
            <a:endParaRPr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Hyperlocal model - region based catalogs for customers</a:t>
            </a:r>
            <a:endParaRPr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Customers can order in bulk without payment and try at home</a:t>
            </a:r>
            <a:endParaRPr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 hours to try, purchase and return items</a:t>
            </a:r>
            <a:endParaRPr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No return cost for brands/suppliers</a:t>
            </a:r>
            <a:endParaRPr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Products once bought after home trials cannot be returned.</a:t>
            </a:r>
            <a:endParaRPr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Opportunity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en"/>
              <a:t>- Size and growth potential of the online fashion retail market.</a:t>
            </a:r>
            <a:endParaRPr/>
          </a:p>
          <a:p>
            <a:pPr indent="-30495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Online retail is far behind offline retail in terms of market share and ticket size per purchase order</a:t>
            </a:r>
            <a:r>
              <a:rPr lang="en"/>
              <a:t>.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It use because of </a:t>
            </a:r>
            <a:r>
              <a:rPr b="1" lang="en"/>
              <a:t>what offline stores offer. Touch, feel and trial rooms before purchase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en"/>
              <a:t>- Trykaa taps into this vast market with its innovative approach.</a:t>
            </a:r>
            <a:endParaRPr/>
          </a:p>
          <a:p>
            <a:pPr indent="-30495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Trykaa fulfills the fundamental need of why customers shop offline</a:t>
            </a:r>
            <a:r>
              <a:rPr lang="en"/>
              <a:t>.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“Try Before You Buy” provides more confident and risk-free shopping experience to the customers</a:t>
            </a:r>
            <a:r>
              <a:rPr lang="en"/>
              <a:t>.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With successful execution, Trykaa can fulfill the </a:t>
            </a:r>
            <a:r>
              <a:rPr lang="en"/>
              <a:t>primary</a:t>
            </a:r>
            <a:r>
              <a:rPr lang="en"/>
              <a:t> needs of a customers to visit offline store.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/>
              <a:t>Who are our customers?</a:t>
            </a:r>
            <a:endParaRPr sz="1700"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 Phase: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en"/>
              <a:t>C</a:t>
            </a:r>
            <a:r>
              <a:rPr b="1" lang="en"/>
              <a:t>orporate employees in urban, high-density areas (like Gurgaon) with high Buying Power and Fashion Consciousness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 the long run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en"/>
              <a:t>Urban Professionals and Young Adults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Overall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Trykaa’s flexibility, focus on convenience, and try-at-home model align with the needs of time-conscious, fashion-oriented customers in urban areas, making them the ideal target both in the initial phase and as the business scales.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25" y="500925"/>
            <a:ext cx="3706500" cy="38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Very small scale, proof of concept conducted last year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n" sz="1400">
                <a:latin typeface="Roboto"/>
                <a:ea typeface="Roboto"/>
                <a:cs typeface="Roboto"/>
                <a:sym typeface="Roboto"/>
              </a:rPr>
              <a:t>Trykaa selling </a:t>
            </a:r>
            <a:r>
              <a:rPr lang="en" sz="1400">
                <a:latin typeface="Roboto"/>
                <a:ea typeface="Roboto"/>
                <a:cs typeface="Roboto"/>
                <a:sym typeface="Roboto"/>
              </a:rPr>
              <a:t>apparels</a:t>
            </a:r>
            <a:r>
              <a:rPr lang="en" sz="1400">
                <a:latin typeface="Roboto"/>
                <a:ea typeface="Roboto"/>
                <a:cs typeface="Roboto"/>
                <a:sym typeface="Roboto"/>
              </a:rPr>
              <a:t> to female customers in NCR only through website.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n" sz="1400">
                <a:latin typeface="Roboto"/>
                <a:ea typeface="Roboto"/>
                <a:cs typeface="Roboto"/>
                <a:sym typeface="Roboto"/>
              </a:rPr>
              <a:t>Social Media Marketing used to reach out to customers.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n" sz="1400">
                <a:latin typeface="Roboto"/>
                <a:ea typeface="Roboto"/>
                <a:cs typeface="Roboto"/>
                <a:sym typeface="Roboto"/>
              </a:rPr>
              <a:t>All Orders were </a:t>
            </a:r>
            <a:r>
              <a:rPr lang="en" sz="1400">
                <a:latin typeface="Roboto"/>
                <a:ea typeface="Roboto"/>
                <a:cs typeface="Roboto"/>
                <a:sym typeface="Roboto"/>
              </a:rPr>
              <a:t>delivered</a:t>
            </a:r>
            <a:r>
              <a:rPr lang="en" sz="1400">
                <a:latin typeface="Roboto"/>
                <a:ea typeface="Roboto"/>
                <a:cs typeface="Roboto"/>
                <a:sym typeface="Roboto"/>
              </a:rPr>
              <a:t> by Prince only, not charging any delivery fees.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n" sz="1400">
                <a:latin typeface="Roboto"/>
                <a:ea typeface="Roboto"/>
                <a:cs typeface="Roboto"/>
                <a:sym typeface="Roboto"/>
              </a:rPr>
              <a:t>Payment either in cash or UPI at </a:t>
            </a:r>
            <a:r>
              <a:rPr lang="en" sz="1400">
                <a:latin typeface="Roboto"/>
                <a:ea typeface="Roboto"/>
                <a:cs typeface="Roboto"/>
                <a:sym typeface="Roboto"/>
              </a:rPr>
              <a:t>customer</a:t>
            </a:r>
            <a:r>
              <a:rPr lang="en" sz="1400">
                <a:latin typeface="Roboto"/>
                <a:ea typeface="Roboto"/>
                <a:cs typeface="Roboto"/>
                <a:sym typeface="Roboto"/>
              </a:rPr>
              <a:t> location.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4644675" y="500925"/>
            <a:ext cx="3964200" cy="374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Outcome</a:t>
            </a:r>
            <a:endParaRPr b="1" sz="18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Total Order Received - 40+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Total Order FulFilled - 13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Avg Sale - Rs 2177(8 customers)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Repeat Customers - 2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Orders delivered in Delhi, Noida, Faridabad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No theft or orders related risk encountered.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Most customers took around 45 mins-1 hr to try and finalise the last purchase order.</a:t>
            </a:r>
            <a:endParaRPr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 Purchase Behaviour and Reviews</a:t>
            </a:r>
            <a:endParaRPr/>
          </a:p>
        </p:txBody>
      </p:sp>
      <p:pic>
        <p:nvPicPr>
          <p:cNvPr id="110" name="Google Shape;1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04400"/>
            <a:ext cx="8839201" cy="3233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Apparel Brands Should Partner with Trykaa</a:t>
            </a:r>
            <a:endParaRPr/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4572000" y="259500"/>
            <a:ext cx="4166400" cy="46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Increase in sales of mid-range and high value</a:t>
            </a:r>
            <a:r>
              <a:rPr lang="en" sz="1400"/>
              <a:t> items along with items in affordable range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Build Trust</a:t>
            </a:r>
            <a:r>
              <a:rPr lang="en" sz="1400"/>
              <a:t>: 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Trykaa can help brands build trust much faster. </a:t>
            </a:r>
            <a:r>
              <a:rPr b="1" lang="en" sz="1400"/>
              <a:t>No-risk while shopping leads to higher customer satisfaction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Data-Driven Insights</a:t>
            </a:r>
            <a:r>
              <a:rPr lang="en" sz="1400"/>
              <a:t>: Trykaa collects valuable data on customer preferences and behavior, which can be shared with partner brands.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Marketing and Exposure</a:t>
            </a:r>
            <a:r>
              <a:rPr lang="en" sz="1400"/>
              <a:t>: In coming future, Trykaa will actively promote partner brands to its user base via co-branding and collaborative marketing efforts.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Risk Free</a:t>
            </a:r>
            <a:r>
              <a:rPr lang="en" sz="1400"/>
              <a:t> i.e. loss due to damage etc., is borne by us.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25" y="500925"/>
            <a:ext cx="3706500" cy="6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Competitors</a:t>
            </a:r>
            <a:endParaRPr/>
          </a:p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Traditional E-commerce Platforms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Examples: Myntra, Amazon Fashion, Flipkart Fashion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Brick-and-Mortar Stores with In-Store Pickup &amp; Return Policies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Examples: </a:t>
            </a:r>
            <a:r>
              <a:rPr lang="en"/>
              <a:t>Shoppers</a:t>
            </a:r>
            <a:r>
              <a:rPr lang="en"/>
              <a:t> Stop, Trends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u="sng"/>
              <a:t>Waise, any player that eats into our potential revenue by fulfilling similar customer needs is a competitor!</a:t>
            </a:r>
            <a:endParaRPr b="1"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u="sng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However, Trykaa’s main differentiation lies in offering a hybrid try-at-home service for high-quality, mid-to-high-range fashion without upfront full payment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.</a:t>
            </a:r>
            <a:endParaRPr b="1" sz="1200" u="sng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/>
              <a:t>Why invest in Trykaa?</a:t>
            </a:r>
            <a:endParaRPr sz="1600"/>
          </a:p>
        </p:txBody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/>
              <a:t>Back a scalable, forward-thinking solution that modernizes the fashion retail experience in India and potentially beyond.</a:t>
            </a:r>
            <a:endParaRPr b="1" sz="1400" u="sng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First-Mover Advantage in a Niche Market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Scalability and Expansion Potential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Attractive Return on Investment (ROI)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Equity Growth in an Emerging Business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Exit Opportunities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Revenue Diversification Opportunities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Service Fees and Add-Ons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Data licensing &amp; Brand Partnerships</a:t>
            </a:r>
            <a:endParaRPr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 need?</a:t>
            </a:r>
            <a:endParaRPr/>
          </a:p>
        </p:txBody>
      </p:sp>
      <p:sp>
        <p:nvSpPr>
          <p:cNvPr id="134" name="Google Shape;134;p2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Capital Investment</a:t>
            </a:r>
            <a:endParaRPr b="1" u="sng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Inventory &amp; Warehousing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Logistics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Technology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u="sng"/>
              <a:t>Strategic Guidance</a:t>
            </a:r>
            <a:endParaRPr b="1" u="sng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Scaling &amp; Operations Expertise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Growth Marketing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Industry Connections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1200"/>
              <a:t>Investors/Partners who understand the apparel market's current shifts—like rising customer demands for convenience, quality, and a tactile shopping experience—may identify the potential for Trykaa to transform online shopping habits, filling a gap in the market that is poised for growth. With the right support, we can build a trusted, scalable service that revolutionizes the online shopping experience in India.</a:t>
            </a:r>
            <a:endParaRPr i="1" sz="1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40" name="Google Shape;140;p25"/>
          <p:cNvSpPr txBox="1"/>
          <p:nvPr>
            <p:ph idx="1" type="body"/>
          </p:nvPr>
        </p:nvSpPr>
        <p:spPr>
          <a:xfrm>
            <a:off x="4442300" y="500925"/>
            <a:ext cx="4544100" cy="46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10000"/>
          </a:bodyPr>
          <a:lstStyle/>
          <a:p>
            <a:pPr indent="-30599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❖"/>
            </a:pPr>
            <a:r>
              <a:rPr b="1" lang="en" sz="3750"/>
              <a:t>Unique Offering</a:t>
            </a:r>
            <a:r>
              <a:rPr lang="en" sz="3750"/>
              <a:t>: </a:t>
            </a:r>
            <a:endParaRPr sz="3750"/>
          </a:p>
          <a:p>
            <a:pPr indent="-30599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➢"/>
            </a:pPr>
            <a:r>
              <a:rPr lang="en" sz="3750"/>
              <a:t>Trykaa provides customers with an in-home trial experience for premium apparel, combining the ease of online shopping with the assurance of in-person fitting.</a:t>
            </a:r>
            <a:endParaRPr sz="3750"/>
          </a:p>
          <a:p>
            <a:pPr indent="-30599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❖"/>
            </a:pPr>
            <a:r>
              <a:rPr b="1" lang="en" sz="3750"/>
              <a:t>Customer Appeal</a:t>
            </a:r>
            <a:r>
              <a:rPr lang="en" sz="3750"/>
              <a:t>: </a:t>
            </a:r>
            <a:endParaRPr sz="3750"/>
          </a:p>
          <a:p>
            <a:pPr indent="-30599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➢"/>
            </a:pPr>
            <a:r>
              <a:rPr lang="en" sz="3750"/>
              <a:t>By reducing purchase hesitations, we target an untapped market segment, especially within corporate circles where convenience is paramount.</a:t>
            </a:r>
            <a:endParaRPr sz="3750"/>
          </a:p>
          <a:p>
            <a:pPr indent="-30599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❖"/>
            </a:pPr>
            <a:r>
              <a:rPr b="1" lang="en" sz="3750"/>
              <a:t>Risk Mitigation</a:t>
            </a:r>
            <a:r>
              <a:rPr lang="en" sz="3750"/>
              <a:t>: </a:t>
            </a:r>
            <a:endParaRPr sz="3750"/>
          </a:p>
          <a:p>
            <a:pPr indent="-30599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➢"/>
            </a:pPr>
            <a:r>
              <a:rPr lang="en" sz="3750"/>
              <a:t>With identity verification and a partial upfront payment model, Trykaa addresses potential operational risks effectively.</a:t>
            </a:r>
            <a:endParaRPr sz="3750"/>
          </a:p>
          <a:p>
            <a:pPr indent="-30599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❖"/>
            </a:pPr>
            <a:r>
              <a:rPr b="1" lang="en" sz="3750"/>
              <a:t>Scalability</a:t>
            </a:r>
            <a:r>
              <a:rPr lang="en" sz="3750"/>
              <a:t>: </a:t>
            </a:r>
            <a:endParaRPr sz="3750"/>
          </a:p>
          <a:p>
            <a:pPr indent="-30599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➢"/>
            </a:pPr>
            <a:r>
              <a:rPr lang="en" sz="3750"/>
              <a:t>With an initial focus on Gurgaon, we plan to expand as we refine our processes, opening possibilities across major cities</a:t>
            </a:r>
            <a:endParaRPr sz="37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Contact Information</a:t>
            </a:r>
            <a:endParaRPr/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Prince, Founder at Trykaa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Phone - +91 9565521581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Email - </a:t>
            </a:r>
            <a:r>
              <a:rPr lang="en" u="sng">
                <a:solidFill>
                  <a:schemeClr val="hlink"/>
                </a:solidFill>
                <a:hlinkClick r:id="rId3"/>
              </a:rPr>
              <a:t>prince@trykaa.com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Alternate Email - prince.mst13@itbhu.ac.in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